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0" autoAdjust="0"/>
    <p:restoredTop sz="94641" autoAdjust="0"/>
  </p:normalViewPr>
  <p:slideViewPr>
    <p:cSldViewPr>
      <p:cViewPr varScale="1">
        <p:scale>
          <a:sx n="64" d="100"/>
          <a:sy n="64" d="100"/>
        </p:scale>
        <p:origin x="-832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B81CE04-E691-4761-A89E-09F70C6CD430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FC3653C-6E7E-489B-9FC6-9EACA3A938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5984" y="1714488"/>
            <a:ext cx="6172200" cy="1894362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>
                <a:latin typeface="Georgia" pitchFamily="18" charset="0"/>
              </a:rPr>
              <a:t>AI-Driven Collections Strategy &amp; Delinquency Prediction </a:t>
            </a:r>
            <a:endParaRPr lang="en-US" sz="4000" dirty="0"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670" y="4429132"/>
            <a:ext cx="6172200" cy="1371600"/>
          </a:xfrm>
        </p:spPr>
        <p:txBody>
          <a:bodyPr>
            <a:normAutofit/>
          </a:bodyPr>
          <a:lstStyle/>
          <a:p>
            <a:pPr algn="ctr"/>
            <a:r>
              <a:rPr lang="en-US" sz="2000" dirty="0" err="1" smtClean="0"/>
              <a:t>GenAI</a:t>
            </a:r>
            <a:r>
              <a:rPr lang="en-US" sz="2000" dirty="0" smtClean="0"/>
              <a:t> Powered Data Analytics Job Simulation for Tata Group 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7467600" cy="1143000"/>
          </a:xfrm>
        </p:spPr>
        <p:txBody>
          <a:bodyPr>
            <a:normAutofit/>
          </a:bodyPr>
          <a:lstStyle/>
          <a:p>
            <a:r>
              <a:rPr lang="en" dirty="0" smtClean="0"/>
              <a:t>How the System Works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3786190"/>
            <a:ext cx="76438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u="sng" dirty="0" smtClean="0">
                <a:solidFill>
                  <a:schemeClr val="tx1">
                    <a:lumMod val="95000"/>
                  </a:schemeClr>
                </a:solidFill>
              </a:rPr>
              <a:t>Customer Data &amp; Insight Analysis: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The process begins by analyzing specific "Customer Segments" and "Influencing Variables" to derive a "Key Insight" about customer behavior or needs.</a:t>
            </a:r>
          </a:p>
          <a:p>
            <a:endParaRPr lang="en-US" dirty="0" smtClean="0">
              <a:solidFill>
                <a:schemeClr val="tx1">
                  <a:lumMod val="9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b="1" u="sng" dirty="0" smtClean="0">
                <a:solidFill>
                  <a:schemeClr val="tx1">
                    <a:lumMod val="95000"/>
                  </a:schemeClr>
                </a:solidFill>
              </a:rPr>
              <a:t>Decision-Making (SMART Framework):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The derived insight is restated and transformed into a "Proposed Recommendation" using the SMART approach to ensure it is Specific, Measurable, Actionable, Relevant, and Time-bound.</a:t>
            </a:r>
          </a:p>
          <a:p>
            <a:endParaRPr lang="en-US" dirty="0" smtClean="0">
              <a:solidFill>
                <a:schemeClr val="tx1">
                  <a:lumMod val="9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5619" r="1638" b="4875"/>
          <a:stretch>
            <a:fillRect/>
          </a:stretch>
        </p:blipFill>
        <p:spPr bwMode="auto">
          <a:xfrm>
            <a:off x="1000100" y="1142984"/>
            <a:ext cx="5929354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2910" y="571480"/>
            <a:ext cx="70009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u="sng" dirty="0" smtClean="0">
                <a:solidFill>
                  <a:schemeClr val="tx1">
                    <a:lumMod val="95000"/>
                  </a:schemeClr>
                </a:solidFill>
              </a:rPr>
              <a:t>Action &amp; Intervention: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The business implements the specific, actionable intervention outlined in the recommendation framework to achieve the identified "Potential Impact".</a:t>
            </a:r>
          </a:p>
          <a:p>
            <a:pPr>
              <a:buFont typeface="Wingdings" pitchFamily="2" charset="2"/>
              <a:buChar char="v"/>
            </a:pPr>
            <a:r>
              <a:rPr lang="en-US" b="1" u="sng" dirty="0" smtClean="0">
                <a:solidFill>
                  <a:schemeClr val="tx1">
                    <a:lumMod val="95000"/>
                  </a:schemeClr>
                </a:solidFill>
              </a:rPr>
              <a:t>Learning &amp; Ethical Monitoring: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The outcomes are measured against the defined goals, and the overall process is reviewed for ethical considerations, such as fairness, transparency, and accountability, to inform future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 smtClean="0"/>
              <a:t>Role of Agentic AI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71472" y="1714488"/>
            <a:ext cx="74295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1. AI Governance &amp; Role</a:t>
            </a:r>
          </a:p>
          <a:p>
            <a:r>
              <a:rPr lang="en-US" b="1" dirty="0" smtClean="0"/>
              <a:t>Fully Automated:</a:t>
            </a:r>
            <a:r>
              <a:rPr lang="en-US" dirty="0" smtClean="0"/>
              <a:t> Handles high-volume, low-risk tasks (e.g., financial health reminders, educational videos).</a:t>
            </a:r>
          </a:p>
          <a:p>
            <a:r>
              <a:rPr lang="en-US" b="1" dirty="0" smtClean="0"/>
              <a:t>Human-in-the-Loop:</a:t>
            </a:r>
            <a:r>
              <a:rPr lang="en-US" dirty="0" smtClean="0"/>
              <a:t> Financial advisors must approve high-impact actions like rate reductions, hardship plans, or restructuring.</a:t>
            </a:r>
          </a:p>
          <a:p>
            <a:endParaRPr lang="en-US" dirty="0" smtClean="0"/>
          </a:p>
          <a:p>
            <a:r>
              <a:rPr lang="en-US" b="1" dirty="0" smtClean="0"/>
              <a:t>2. Ethical Guardrails</a:t>
            </a:r>
          </a:p>
          <a:p>
            <a:r>
              <a:rPr lang="en-US" b="1" dirty="0" smtClean="0"/>
              <a:t>Bias Prevention:</a:t>
            </a:r>
            <a:r>
              <a:rPr lang="en-US" dirty="0" smtClean="0"/>
              <a:t> Excludes proxies like zip code/education to prevent racial or gender discrimination.</a:t>
            </a:r>
          </a:p>
          <a:p>
            <a:r>
              <a:rPr lang="en-US" b="1" dirty="0" smtClean="0"/>
              <a:t>Transparency:</a:t>
            </a:r>
            <a:r>
              <a:rPr lang="en-US" dirty="0" smtClean="0"/>
              <a:t> Uses feature importance (e.g., DTI scores) to explain risk flags to staff and customers.</a:t>
            </a:r>
          </a:p>
          <a:p>
            <a:r>
              <a:rPr lang="en-US" b="1" dirty="0" smtClean="0"/>
              <a:t>Integrity:</a:t>
            </a:r>
            <a:r>
              <a:rPr lang="en-US" dirty="0" smtClean="0"/>
              <a:t> Prioritizes financial relief over new debt; uses </a:t>
            </a:r>
            <a:r>
              <a:rPr lang="en-US" dirty="0" err="1" smtClean="0"/>
              <a:t>anonymized</a:t>
            </a:r>
            <a:r>
              <a:rPr lang="en-US" dirty="0" smtClean="0"/>
              <a:t> data and mandatory oversight for credit-impacting decisions.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714356"/>
            <a:ext cx="81439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3. SMART Recommendation Framework</a:t>
            </a:r>
          </a:p>
          <a:p>
            <a:r>
              <a:rPr lang="en-US" b="1" dirty="0" smtClean="0"/>
              <a:t>Core Insight:</a:t>
            </a:r>
            <a:r>
              <a:rPr lang="en-US" dirty="0" smtClean="0"/>
              <a:t> "Early Career" users with high DTI and missed utility bills have </a:t>
            </a:r>
            <a:r>
              <a:rPr lang="en-US" b="1" dirty="0" smtClean="0"/>
              <a:t>3x higher default risk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Recommendation:</a:t>
            </a:r>
            <a:r>
              <a:rPr lang="en-US" dirty="0" smtClean="0"/>
              <a:t> Launch a </a:t>
            </a:r>
            <a:r>
              <a:rPr lang="en-US" b="1" dirty="0" smtClean="0"/>
              <a:t>Financial Wellness Outreach</a:t>
            </a:r>
            <a:r>
              <a:rPr lang="en-US" dirty="0" smtClean="0"/>
              <a:t> program.</a:t>
            </a:r>
          </a:p>
          <a:p>
            <a:pPr lvl="1"/>
            <a:r>
              <a:rPr lang="en-US" b="1" dirty="0" smtClean="0"/>
              <a:t>Specific:</a:t>
            </a:r>
            <a:r>
              <a:rPr lang="en-US" dirty="0" smtClean="0"/>
              <a:t> Provide budgeting tools and a temporary 2-month interest rate cut.</a:t>
            </a:r>
          </a:p>
          <a:p>
            <a:pPr lvl="1"/>
            <a:r>
              <a:rPr lang="en-US" b="1" dirty="0" smtClean="0"/>
              <a:t>Measurable:</a:t>
            </a:r>
            <a:r>
              <a:rPr lang="en-US" dirty="0" smtClean="0"/>
              <a:t> Target a </a:t>
            </a:r>
            <a:r>
              <a:rPr lang="en-US" b="1" dirty="0" smtClean="0"/>
              <a:t>15% reduction</a:t>
            </a:r>
            <a:r>
              <a:rPr lang="en-US" dirty="0" smtClean="0"/>
              <a:t> in segment defaults over six months.</a:t>
            </a:r>
          </a:p>
          <a:p>
            <a:pPr lvl="1"/>
            <a:r>
              <a:rPr lang="en-US" b="1" dirty="0" smtClean="0"/>
              <a:t>Actionable:</a:t>
            </a:r>
            <a:r>
              <a:rPr lang="en-US" dirty="0" smtClean="0"/>
              <a:t> Daily risk scoring triggers automated outreach or manual flags.</a:t>
            </a:r>
          </a:p>
          <a:p>
            <a:pPr lvl="1"/>
            <a:r>
              <a:rPr lang="en-US" b="1" dirty="0" smtClean="0"/>
              <a:t>Time-bound:</a:t>
            </a:r>
            <a:r>
              <a:rPr lang="en-US" dirty="0" smtClean="0"/>
              <a:t> 6-month pilot with a formal audit at Month 3.</a:t>
            </a:r>
          </a:p>
          <a:p>
            <a:endParaRPr lang="en-US" dirty="0" smtClean="0"/>
          </a:p>
          <a:p>
            <a:r>
              <a:rPr lang="en-US" b="1" dirty="0" smtClean="0"/>
              <a:t>Rationale:</a:t>
            </a:r>
            <a:r>
              <a:rPr lang="en-US" dirty="0" smtClean="0"/>
              <a:t> Early intervention is more cost-effective than legal recovery and builds long-term brand loyalty.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 smtClean="0"/>
              <a:t>Responsible AI Guardrails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0034" y="1785926"/>
            <a:ext cx="892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472" y="1643050"/>
            <a:ext cx="75009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1. System Workflow: From Data to Action</a:t>
            </a:r>
          </a:p>
          <a:p>
            <a:r>
              <a:rPr lang="en-US" b="1" u="sng" dirty="0" smtClean="0"/>
              <a:t>Intake &amp; Analysis:</a:t>
            </a:r>
            <a:r>
              <a:rPr lang="en-US" u="sng" dirty="0" smtClean="0"/>
              <a:t> </a:t>
            </a:r>
            <a:r>
              <a:rPr lang="en-US" dirty="0" smtClean="0"/>
              <a:t>The system ingests customer data and identifies "Early Career" segments with high debt-to-income (DTI) ratios.</a:t>
            </a:r>
          </a:p>
          <a:p>
            <a:r>
              <a:rPr lang="en-US" b="1" u="sng" dirty="0" smtClean="0"/>
              <a:t>Decision (SMART Recommendation):</a:t>
            </a:r>
            <a:r>
              <a:rPr lang="en-US" dirty="0" smtClean="0"/>
              <a:t> Insights are converted into a "Financial Wellness Outreach" recommendation that is specific, measurable, and time-bound.</a:t>
            </a:r>
          </a:p>
          <a:p>
            <a:r>
              <a:rPr lang="en-US" b="1" u="sng" dirty="0" smtClean="0"/>
              <a:t>Action (</a:t>
            </a:r>
            <a:r>
              <a:rPr lang="en-US" b="1" u="sng" dirty="0" err="1" smtClean="0"/>
              <a:t>Agentic</a:t>
            </a:r>
            <a:r>
              <a:rPr lang="en-US" b="1" u="sng" dirty="0" smtClean="0"/>
              <a:t> AI):</a:t>
            </a:r>
            <a:r>
              <a:rPr lang="en-US" u="sng" dirty="0" smtClean="0"/>
              <a:t> </a:t>
            </a:r>
            <a:r>
              <a:rPr lang="en-US" dirty="0" smtClean="0"/>
              <a:t>The system autonomously sends low-risk educational reminders while flagging high-impact hardship plans for human financial advisor approval.</a:t>
            </a:r>
          </a:p>
          <a:p>
            <a:r>
              <a:rPr lang="en-US" b="1" u="sng" dirty="0" smtClean="0"/>
              <a:t>Learning &amp; Compliance:</a:t>
            </a:r>
            <a:r>
              <a:rPr lang="en-US" u="sng" dirty="0" smtClean="0"/>
              <a:t> </a:t>
            </a:r>
            <a:r>
              <a:rPr lang="en-US" dirty="0" smtClean="0"/>
              <a:t>The system audits results for fairness and regulatory compliance (GDPR/ECOA) to improve future accuracy.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42852"/>
            <a:ext cx="792961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SMART Recommendation Framework</a:t>
            </a:r>
          </a:p>
          <a:p>
            <a:r>
              <a:rPr lang="en-US" b="1" u="sng" dirty="0" smtClean="0"/>
              <a:t>Insight:</a:t>
            </a:r>
            <a:r>
              <a:rPr lang="en-US" u="sng" dirty="0" smtClean="0"/>
              <a:t> </a:t>
            </a:r>
            <a:r>
              <a:rPr lang="en-US" dirty="0" smtClean="0"/>
              <a:t>"Early Career" customers with high DTI and two missed utility payments carry a 3x higher default risk.</a:t>
            </a:r>
          </a:p>
          <a:p>
            <a:r>
              <a:rPr lang="en-US" b="1" u="sng" dirty="0" smtClean="0"/>
              <a:t>Proposed Recommendation</a:t>
            </a:r>
            <a:r>
              <a:rPr lang="en-US" b="1" dirty="0" smtClean="0"/>
              <a:t>:</a:t>
            </a:r>
            <a:r>
              <a:rPr lang="en-US" dirty="0" smtClean="0"/>
              <a:t> Launch an automated "Financial Wellness Outreach" program.</a:t>
            </a:r>
          </a:p>
          <a:p>
            <a:pPr lvl="1"/>
            <a:r>
              <a:rPr lang="en-US" b="1" dirty="0" smtClean="0"/>
              <a:t>Specific:</a:t>
            </a:r>
            <a:r>
              <a:rPr lang="en-US" dirty="0" smtClean="0"/>
              <a:t> Offer budgeting tools and a temporary 2-month interest rate reduction.</a:t>
            </a:r>
          </a:p>
          <a:p>
            <a:pPr lvl="1"/>
            <a:r>
              <a:rPr lang="en-US" b="1" dirty="0" smtClean="0"/>
              <a:t>Measurable:</a:t>
            </a:r>
            <a:r>
              <a:rPr lang="en-US" dirty="0" smtClean="0"/>
              <a:t> Target a 15% reduction in segment default rates within two quarters.</a:t>
            </a:r>
          </a:p>
          <a:p>
            <a:pPr lvl="1"/>
            <a:r>
              <a:rPr lang="en-US" b="1" dirty="0" smtClean="0"/>
              <a:t>Actionable:</a:t>
            </a:r>
            <a:r>
              <a:rPr lang="en-US" dirty="0" smtClean="0"/>
              <a:t> Use daily risk scores to trigger automated outreach or manual advisor review.</a:t>
            </a:r>
          </a:p>
          <a:p>
            <a:pPr lvl="1"/>
            <a:r>
              <a:rPr lang="en-US" b="1" dirty="0" smtClean="0"/>
              <a:t>Time-bound:</a:t>
            </a:r>
            <a:r>
              <a:rPr lang="en-US" dirty="0" smtClean="0"/>
              <a:t> Conduct a 6-month pilot with a performance audit at month three.</a:t>
            </a:r>
          </a:p>
          <a:p>
            <a:r>
              <a:rPr lang="en-US" b="1" dirty="0" smtClean="0"/>
              <a:t>Business Rationale:</a:t>
            </a:r>
            <a:r>
              <a:rPr lang="en-US" dirty="0" smtClean="0"/>
              <a:t> Early prevention is significantly cheaper than legal recovery costs and write-offs, fostering long-term customer loyalty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3. Expected </a:t>
            </a:r>
            <a:r>
              <a:rPr lang="en-US" b="1" dirty="0" smtClean="0"/>
              <a:t>Business Impact for </a:t>
            </a:r>
            <a:r>
              <a:rPr lang="en-US" b="1" dirty="0" err="1" smtClean="0"/>
              <a:t>Geldium</a:t>
            </a:r>
            <a:endParaRPr lang="en-US" b="1" dirty="0" smtClean="0"/>
          </a:p>
          <a:p>
            <a:r>
              <a:rPr lang="en-US" b="1" u="sng" dirty="0" smtClean="0"/>
              <a:t>Quantitative:</a:t>
            </a:r>
            <a:r>
              <a:rPr lang="en-US" u="sng" dirty="0" smtClean="0"/>
              <a:t> </a:t>
            </a:r>
            <a:r>
              <a:rPr lang="en-US" dirty="0" smtClean="0"/>
              <a:t>Reduced delinquency rates, increased repayment volumes, and lower operational costs due to automated high-volume outreach.</a:t>
            </a:r>
          </a:p>
          <a:p>
            <a:r>
              <a:rPr lang="en-US" b="1" u="sng" dirty="0" smtClean="0"/>
              <a:t>Qualitative:</a:t>
            </a:r>
            <a:r>
              <a:rPr lang="en-US" u="sng" dirty="0" smtClean="0"/>
              <a:t> </a:t>
            </a:r>
            <a:r>
              <a:rPr lang="en-US" dirty="0" smtClean="0"/>
              <a:t>Enhanced customer trust through empathetic, transparent interventions and a scalable, fair strategy that treats customers consistently.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642918"/>
            <a:ext cx="73581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 </a:t>
            </a:r>
            <a:r>
              <a:rPr lang="en-US" b="1" dirty="0" smtClean="0"/>
              <a:t>Responsible AI Guardrails</a:t>
            </a:r>
          </a:p>
          <a:p>
            <a:r>
              <a:rPr lang="en-US" b="1" dirty="0" smtClean="0"/>
              <a:t>Automated Bias Monitoring:</a:t>
            </a:r>
            <a:r>
              <a:rPr lang="en-US" dirty="0" smtClean="0"/>
              <a:t> Continuously audit outputs to ensure proxies like "zip code" or "education level" do not cause disparate impact.</a:t>
            </a:r>
          </a:p>
          <a:p>
            <a:r>
              <a:rPr lang="en-US" b="1" dirty="0" err="1" smtClean="0"/>
              <a:t>Explainability</a:t>
            </a:r>
            <a:r>
              <a:rPr lang="en-US" b="1" dirty="0" smtClean="0"/>
              <a:t> Requirements:</a:t>
            </a:r>
            <a:r>
              <a:rPr lang="en-US" dirty="0" smtClean="0"/>
              <a:t> Use feature importance (e.g., "High DTI") to provide transparent "reason codes" for every risk flag.</a:t>
            </a:r>
          </a:p>
          <a:p>
            <a:r>
              <a:rPr lang="en-US" b="1" dirty="0" smtClean="0"/>
              <a:t>Human-in-the-Loop (HITL):</a:t>
            </a:r>
            <a:r>
              <a:rPr lang="en-US" dirty="0" smtClean="0"/>
              <a:t> Mandate human approval for any decision affecting a customer's credit standing, such as loan restructuring.</a:t>
            </a:r>
          </a:p>
          <a:p>
            <a:r>
              <a:rPr lang="en-US" b="1" dirty="0" smtClean="0"/>
              <a:t>Regulatory Compliance:</a:t>
            </a:r>
            <a:r>
              <a:rPr lang="en-US" dirty="0" smtClean="0"/>
              <a:t> Ensure all data handling and automated decisions align with GDPR and ECOA standards.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 smtClean="0"/>
              <a:t>Expected Business Impact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57224" y="1785926"/>
            <a:ext cx="72152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 smtClean="0"/>
              <a:t>Business KPIs (Quantitative Outcomes)</a:t>
            </a:r>
          </a:p>
          <a:p>
            <a:r>
              <a:rPr lang="en-US" b="1" dirty="0" smtClean="0"/>
              <a:t>Reduced Delinquency Rates:</a:t>
            </a:r>
            <a:r>
              <a:rPr lang="en-US" dirty="0" smtClean="0"/>
              <a:t> Anticipated 25%+ cut in loan delinquencies and a 10% reduction in 30-day delinquency through early detection of risk signals like missed utility payments.</a:t>
            </a:r>
          </a:p>
          <a:p>
            <a:r>
              <a:rPr lang="en-US" b="1" dirty="0" smtClean="0"/>
              <a:t>Lower Operational Costs:</a:t>
            </a:r>
            <a:r>
              <a:rPr lang="en-US" dirty="0" smtClean="0"/>
              <a:t> Automation of routine tasks (e.g., SMS reminders, risk scoring) could reduce operational costs by up to 40% and eliminate 90%+ of manual collection efforts.</a:t>
            </a:r>
          </a:p>
          <a:p>
            <a:r>
              <a:rPr lang="en-US" b="1" dirty="0" smtClean="0"/>
              <a:t>Improved Recovery Efficiency:</a:t>
            </a:r>
            <a:r>
              <a:rPr lang="en-US" dirty="0" smtClean="0"/>
              <a:t> Expectations of 10–25% higher debt recovery rates by prioritizing high-probability accounts and using algorithmic calling decisions that outperform manual methods by 23.4%.</a:t>
            </a:r>
          </a:p>
          <a:p>
            <a:r>
              <a:rPr lang="en-US" b="1" dirty="0" smtClean="0"/>
              <a:t>Accelerated Cash Flow:</a:t>
            </a:r>
            <a:r>
              <a:rPr lang="en-US" dirty="0" smtClean="0"/>
              <a:t> Targeted reductions in Days Sales Outstanding (DSO) by 10–20 days, ensuring faster cash conversion and improved liquidity.</a:t>
            </a:r>
          </a:p>
          <a:p>
            <a:endParaRPr lang="en-US" dirty="0"/>
          </a:p>
        </p:txBody>
      </p:sp>
      <p:pic>
        <p:nvPicPr>
          <p:cNvPr id="1026" name="Picture 2" descr="C:\Program Files (x86)\Microsoft Office\MEDIA\CAGCAT10\j0195384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14488"/>
            <a:ext cx="408101" cy="4166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1071546"/>
            <a:ext cx="75009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 smtClean="0"/>
              <a:t>Customer Outcomes (Qualitative Results)</a:t>
            </a:r>
          </a:p>
          <a:p>
            <a:r>
              <a:rPr lang="en-US" b="1" dirty="0" smtClean="0"/>
              <a:t>Enhanced Customer Experience:</a:t>
            </a:r>
            <a:r>
              <a:rPr lang="en-US" dirty="0" smtClean="0"/>
              <a:t> Transition to a less intrusive "empathetic" approach using perfect timing and preferred digital channels (SMS/Email) rather than disruptive calls.</a:t>
            </a:r>
          </a:p>
          <a:p>
            <a:r>
              <a:rPr lang="en-US" b="1" dirty="0" smtClean="0"/>
              <a:t>Tailored Financial Solutions:</a:t>
            </a:r>
            <a:r>
              <a:rPr lang="en-US" dirty="0" smtClean="0"/>
              <a:t> Provision of hyper-personalized repayment plans and hardship offers that fit a customer's specific budget, leading to reported 25–30% boosts in satisfaction ratings.</a:t>
            </a:r>
          </a:p>
          <a:p>
            <a:r>
              <a:rPr lang="en-US" b="1" dirty="0" smtClean="0"/>
              <a:t>Increased Fairness and Trust:</a:t>
            </a:r>
            <a:r>
              <a:rPr lang="en-US" dirty="0" smtClean="0"/>
              <a:t> Use of explainable, data-driven interventions and bias monitoring to ensure fair treatment across all demographic segments.</a:t>
            </a:r>
          </a:p>
          <a:p>
            <a:r>
              <a:rPr lang="en-US" b="1" dirty="0" smtClean="0"/>
              <a:t>Scalability and Sustainability:</a:t>
            </a:r>
            <a:r>
              <a:rPr lang="en-US" dirty="0" smtClean="0"/>
              <a:t> The ability to handle increased workloads and diverse customer personas (e.g., small businesses vs. individuals) without a proportional increase in headcount.</a:t>
            </a:r>
          </a:p>
          <a:p>
            <a:endParaRPr lang="en-US" dirty="0"/>
          </a:p>
        </p:txBody>
      </p:sp>
      <p:pic>
        <p:nvPicPr>
          <p:cNvPr id="2050" name="Picture 2" descr="C:\Program Files (x86)\Microsoft Office\MEDIA\CAGCAT10\j0195384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142984"/>
            <a:ext cx="338123" cy="345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51</TotalTime>
  <Words>966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AI-Driven Collections Strategy &amp; Delinquency Prediction </vt:lpstr>
      <vt:lpstr>How the System Works</vt:lpstr>
      <vt:lpstr>Slide 3</vt:lpstr>
      <vt:lpstr>Role of Agentic AI</vt:lpstr>
      <vt:lpstr>Slide 5</vt:lpstr>
      <vt:lpstr>Responsible AI Guardrails</vt:lpstr>
      <vt:lpstr>Slide 7</vt:lpstr>
      <vt:lpstr>Slide 8</vt:lpstr>
      <vt:lpstr>Expected Business Impact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Collections Strategy &amp; Delinquency Prediction</dc:title>
  <dc:creator>NUHITA</dc:creator>
  <cp:lastModifiedBy>NUHITA</cp:lastModifiedBy>
  <cp:revision>6</cp:revision>
  <dcterms:created xsi:type="dcterms:W3CDTF">2026-01-14T15:39:13Z</dcterms:created>
  <dcterms:modified xsi:type="dcterms:W3CDTF">2026-01-15T06:06:30Z</dcterms:modified>
</cp:coreProperties>
</file>